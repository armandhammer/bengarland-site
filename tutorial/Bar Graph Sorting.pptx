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141" d="100"/>
          <a:sy n="141" d="100"/>
        </p:scale>
        <p:origin x="964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ABC6B5-3B9E-21AD-1F7B-BDCB8F29AC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587EA0-6602-3FDB-DF76-1721ABC88C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DCBF57-AAEF-6350-08CC-6E7771EDB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936FC-EAE0-443B-BC9B-0EEDFB4CDAAB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821993-7D5A-0060-9F03-1FDB41AB8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745AD1-0FD8-B9DE-BA22-5CAD60716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B9FBE-D025-47A6-B369-49A713D63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0800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D687B-8C6D-6B57-D1A8-E0FF6902E8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7322B4-CE1B-9635-A34D-495023DE1F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916910-6BB0-452C-7CAA-95979E3E9F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936FC-EAE0-443B-BC9B-0EEDFB4CDAAB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0F92BC-671B-9E01-F439-1BD71A84F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3EDEE3-5C87-AC1D-CFEF-B95B85BCC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B9FBE-D025-47A6-B369-49A713D63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8838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CA42C-7504-A8B1-9730-DC2F31ABE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1C4F82-CB1B-FCBC-B0CD-614A60FBE6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F985B0-ECB7-E561-6B98-D6C2E65C99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936FC-EAE0-443B-BC9B-0EEDFB4CDAAB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38B807-1360-C4CF-4139-8202A43725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954B69-948C-3566-47E6-B3D5E952C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B9FBE-D025-47A6-B369-49A713D63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28845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3F1C9-82C5-4DCB-A5CC-8662F5105A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365A75-2D1C-5D9B-5321-87D7E0BD1F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1BA601-2AC6-C2CC-111C-1B35B4A12D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A08C98-EBE1-4756-0A0D-CFFEEF5BA9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936FC-EAE0-443B-BC9B-0EEDFB4CDAAB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36C9E2-81FB-045A-CF47-D985279B67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654D7A-5A87-53BE-9A51-FF5B949B2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B9FBE-D025-47A6-B369-49A713D63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7322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500FEC-0485-B585-A312-B05CC81F24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CBE378-4E7A-20BF-DB6B-76BB17BA5C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B6500F-0305-1DC9-2BC8-D1004DBD67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3CF8A1-6AA5-A6DE-0FC5-C42350EA91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3F5B6D-DEED-9854-2534-21373D796C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515340-4E4E-8D2C-3A7D-B988B583D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936FC-EAE0-443B-BC9B-0EEDFB4CDAAB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BA6B28B-4EBB-F580-705B-C2D5B8284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24A511F-26FC-5ADD-7B4E-6010D1AA9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B9FBE-D025-47A6-B369-49A713D63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2021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0FBE31-E911-3D6C-ADF3-FE74FE77FB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EAD374-CA7D-F61A-7B8E-44E5BEFEA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936FC-EAE0-443B-BC9B-0EEDFB4CDAAB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AF5472-3B1C-07B7-0BD5-6B3EC684DC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C8BC0A-57F3-5F58-D760-CC424BB37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B9FBE-D025-47A6-B369-49A713D63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6885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5702902-210B-BF51-121C-EBC393BB85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936FC-EAE0-443B-BC9B-0EEDFB4CDAAB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AD4E4A-F279-5F63-67F4-535B0CC32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96F51C-8B22-2F76-2975-040A8B945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B9FBE-D025-47A6-B369-49A713D63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7990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8472C-574D-E20D-5CDE-E2E30B8D94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0E2138-5C91-BDBA-5614-F12B212E2E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938C20-7D25-732B-85E4-6559540958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02A0A7-3FF4-157D-5343-44D71E37A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936FC-EAE0-443B-BC9B-0EEDFB4CDAAB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D10E8A-3780-17C4-DF43-C4655FAC8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A0C281-878B-7941-B228-3A17E87BB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B9FBE-D025-47A6-B369-49A713D63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855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97ABD-FF17-378C-02BA-46F583F7E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CEB9569-E9C9-86BE-5EE7-90A04A691E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2D5998-F070-7C32-3C32-854273E438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80635E-E361-9603-7BBE-79FC0AA401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936FC-EAE0-443B-BC9B-0EEDFB4CDAAB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24E1A4-81EB-4BDC-B40B-749011568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FADCEE-D7EA-7760-E5CB-92364F3DE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B9FBE-D025-47A6-B369-49A713D63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6323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670AB-835D-F939-04C3-F3DAE934E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1771BD-B014-1D56-E020-B4190231B8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05328E-4006-73AD-76A2-CA6DC5B817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936FC-EAE0-443B-BC9B-0EEDFB4CDAAB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0D5103-B73A-E017-6E02-F7CD3B74E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8A01F1-33D4-5527-4713-8EDF8972C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B9FBE-D025-47A6-B369-49A713D63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58373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DB18C49-2850-A43C-652E-FA7970B8FD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3FDC7C-ABA8-BDFE-6952-44A48AEAE8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A9A078-4ADB-8053-3E5D-FDA4FDFF9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936FC-EAE0-443B-BC9B-0EEDFB4CDAAB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E65542-689C-A1CF-56E9-E2731F5B9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49470-E956-FC6E-9303-EB27240B2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B9FBE-D025-47A6-B369-49A713D63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5567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2AF7DF-83F0-19C9-F98A-811AD41032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CCBD27-26C4-FBCC-E106-6FB7B954A0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6F69C0-B05E-574B-4819-BFE025CD6B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B936FC-EAE0-443B-BC9B-0EEDFB4CDAAB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661D4-64E4-68D0-BDDB-E0DAC7D5D3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466F81-844E-7FC1-8478-EEA9EFE1C7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BB9FBE-D025-47A6-B369-49A713D63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692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22DFA-F616-6512-DBBE-26035070418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Bar Graph Sorting with Animation </a:t>
            </a:r>
            <a:r>
              <a:rPr lang="en-US" dirty="0" err="1"/>
              <a:t>Microtutorial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A61AA7-5F2B-3D9E-9512-670D3A89994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Ben Garland</a:t>
            </a:r>
          </a:p>
          <a:p>
            <a:r>
              <a:rPr lang="en-US" dirty="0"/>
              <a:t>March 23, 2026</a:t>
            </a:r>
          </a:p>
          <a:p>
            <a:r>
              <a:rPr lang="en-US" dirty="0"/>
              <a:t>Web Mapping</a:t>
            </a:r>
          </a:p>
        </p:txBody>
      </p:sp>
    </p:spTree>
    <p:extLst>
      <p:ext uri="{BB962C8B-B14F-4D97-AF65-F5344CB8AC3E}">
        <p14:creationId xmlns:p14="http://schemas.microsoft.com/office/powerpoint/2010/main" val="41690753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18AE7-343D-032F-DF5A-2A985EDD27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1: Create SVG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D7BA37F-35B7-905A-8565-F32FDF4EBE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199" y="1816945"/>
            <a:ext cx="5073911" cy="120021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1869E3F-7409-4855-8257-A5742E086FBC}"/>
              </a:ext>
            </a:extLst>
          </p:cNvPr>
          <p:cNvSpPr txBox="1"/>
          <p:nvPr/>
        </p:nvSpPr>
        <p:spPr>
          <a:xfrm>
            <a:off x="6880782" y="1799638"/>
            <a:ext cx="56197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Creates an SVG element inside the page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is where all graphics will be drawn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70F6F41-DE7D-2CE4-1AF3-63C9B600394D}"/>
              </a:ext>
            </a:extLst>
          </p:cNvPr>
          <p:cNvSpPr txBox="1"/>
          <p:nvPr/>
        </p:nvSpPr>
        <p:spPr>
          <a:xfrm>
            <a:off x="6878646" y="4317838"/>
            <a:ext cx="45010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This sets up the drawing area, but nothing is visible yet except a border.</a:t>
            </a:r>
          </a:p>
        </p:txBody>
      </p:sp>
    </p:spTree>
    <p:extLst>
      <p:ext uri="{BB962C8B-B14F-4D97-AF65-F5344CB8AC3E}">
        <p14:creationId xmlns:p14="http://schemas.microsoft.com/office/powerpoint/2010/main" val="333593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6AA8CA-7C88-B23F-3A8E-056F7578C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E8DD1-1C22-F1A2-10AB-18F427EEBF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2: Load CSV Data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B5FF1D-213E-30D6-A093-3F111B047425}"/>
              </a:ext>
            </a:extLst>
          </p:cNvPr>
          <p:cNvSpPr txBox="1"/>
          <p:nvPr/>
        </p:nvSpPr>
        <p:spPr>
          <a:xfrm>
            <a:off x="6879771" y="1800061"/>
            <a:ext cx="50174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Loads external CSV file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Converts values to numbers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Prints data to the console to check it worked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9280355-F7F4-524D-3514-470E61C2F3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08540"/>
            <a:ext cx="4007056" cy="236232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708AB60-A5E0-09B6-FCFB-90D42D92E590}"/>
              </a:ext>
            </a:extLst>
          </p:cNvPr>
          <p:cNvSpPr txBox="1"/>
          <p:nvPr/>
        </p:nvSpPr>
        <p:spPr>
          <a:xfrm>
            <a:off x="6878646" y="4317838"/>
            <a:ext cx="45010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This loads the data file and prepares it so we can use it in the chart.</a:t>
            </a:r>
          </a:p>
        </p:txBody>
      </p:sp>
    </p:spTree>
    <p:extLst>
      <p:ext uri="{BB962C8B-B14F-4D97-AF65-F5344CB8AC3E}">
        <p14:creationId xmlns:p14="http://schemas.microsoft.com/office/powerpoint/2010/main" val="34905096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6163D1-03E3-45A0-1971-B0BB7A2CB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1085A-82C3-36EE-206C-38E7DFBAF0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3: Scales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BABD81-5FB4-CAB6-44B5-799114B45FDE}"/>
              </a:ext>
            </a:extLst>
          </p:cNvPr>
          <p:cNvSpPr txBox="1"/>
          <p:nvPr/>
        </p:nvSpPr>
        <p:spPr>
          <a:xfrm>
            <a:off x="6879772" y="1799965"/>
            <a:ext cx="50174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X scale → positions categories along bottom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Y scale → controls bar height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8873E10-0108-7A40-A252-64573E897F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09878"/>
            <a:ext cx="3924502" cy="414041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87CB113-A90E-556A-4120-7987706E4C78}"/>
              </a:ext>
            </a:extLst>
          </p:cNvPr>
          <p:cNvSpPr txBox="1"/>
          <p:nvPr/>
        </p:nvSpPr>
        <p:spPr>
          <a:xfrm>
            <a:off x="6878646" y="4317838"/>
            <a:ext cx="45010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Scales turn our data into positions and sizes on the screen.</a:t>
            </a:r>
          </a:p>
        </p:txBody>
      </p:sp>
    </p:spTree>
    <p:extLst>
      <p:ext uri="{BB962C8B-B14F-4D97-AF65-F5344CB8AC3E}">
        <p14:creationId xmlns:p14="http://schemas.microsoft.com/office/powerpoint/2010/main" val="15420690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4721FC-FFA9-93A7-8FFD-251B1DAF4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D148E-2C21-5C2F-07C3-EA2F2126D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4: Margins + Axes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3845781-549E-273F-0037-0524BE2833D9}"/>
              </a:ext>
            </a:extLst>
          </p:cNvPr>
          <p:cNvSpPr txBox="1"/>
          <p:nvPr/>
        </p:nvSpPr>
        <p:spPr>
          <a:xfrm>
            <a:off x="6878646" y="1800065"/>
            <a:ext cx="52743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Margins create space so labels are not cut off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chart group shifts everything into that space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Axes show the values on the chart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F8D175-6E5A-AEBE-5691-A8CEE3D925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00065"/>
            <a:ext cx="5448580" cy="120021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005B244-B5B0-9F63-95EA-681748EA26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241270"/>
            <a:ext cx="6896454" cy="76203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C63907F-A746-6AE3-9805-EF24B836D6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4244302"/>
            <a:ext cx="5258070" cy="187334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7E269FA-4DB2-51B6-E755-D6A0988B4777}"/>
              </a:ext>
            </a:extLst>
          </p:cNvPr>
          <p:cNvSpPr txBox="1"/>
          <p:nvPr/>
        </p:nvSpPr>
        <p:spPr>
          <a:xfrm>
            <a:off x="6878646" y="4317838"/>
            <a:ext cx="45010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We add margins so the axes fit, then draw the axes using the scales.</a:t>
            </a:r>
          </a:p>
        </p:txBody>
      </p:sp>
    </p:spTree>
    <p:extLst>
      <p:ext uri="{BB962C8B-B14F-4D97-AF65-F5344CB8AC3E}">
        <p14:creationId xmlns:p14="http://schemas.microsoft.com/office/powerpoint/2010/main" val="7048541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968C00-B172-61CB-EE98-76974718A4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2944E-D436-2565-3438-CA25F08A3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5: Bars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B7B1ED-2F1B-7E86-9065-1D3A72B8FE86}"/>
              </a:ext>
            </a:extLst>
          </p:cNvPr>
          <p:cNvSpPr txBox="1"/>
          <p:nvPr/>
        </p:nvSpPr>
        <p:spPr>
          <a:xfrm>
            <a:off x="6878646" y="1800065"/>
            <a:ext cx="50174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Each data item becomes a rectangle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Position and size come from the scales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3C815EE-A9F6-F9D3-5173-87CC6C4DAA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00065"/>
            <a:ext cx="3911801" cy="394990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000AB7B-EE1C-5AF2-85A5-2A6C209EB89C}"/>
              </a:ext>
            </a:extLst>
          </p:cNvPr>
          <p:cNvSpPr txBox="1"/>
          <p:nvPr/>
        </p:nvSpPr>
        <p:spPr>
          <a:xfrm>
            <a:off x="6878646" y="4317838"/>
            <a:ext cx="450105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Each row of data becomes a bar, and the scales decide where it goes and how tall it is. D3 connects data to shapes on the screen.</a:t>
            </a:r>
          </a:p>
        </p:txBody>
      </p:sp>
    </p:spTree>
    <p:extLst>
      <p:ext uri="{BB962C8B-B14F-4D97-AF65-F5344CB8AC3E}">
        <p14:creationId xmlns:p14="http://schemas.microsoft.com/office/powerpoint/2010/main" val="42259806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4BC68D-E14C-0450-82E3-A1598A2B41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83A13-BCFD-8DE0-84B9-96CCB604C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6: Labels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CE0CF2-36BE-80AB-4E6B-B19D77290332}"/>
              </a:ext>
            </a:extLst>
          </p:cNvPr>
          <p:cNvSpPr txBox="1"/>
          <p:nvPr/>
        </p:nvSpPr>
        <p:spPr>
          <a:xfrm>
            <a:off x="6878646" y="1800065"/>
            <a:ext cx="50174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Adds numbers above each bar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Uses the same positioning as the bars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0E6212-FEE8-7D45-0755-C902DFCF6F0F}"/>
              </a:ext>
            </a:extLst>
          </p:cNvPr>
          <p:cNvSpPr txBox="1"/>
          <p:nvPr/>
        </p:nvSpPr>
        <p:spPr>
          <a:xfrm>
            <a:off x="6878646" y="4317838"/>
            <a:ext cx="45010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labels stay aligned because they use the same positioning as the bars.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43B216-F282-9A99-96C0-095E406FB9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00065"/>
            <a:ext cx="5207268" cy="3733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31355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736D4E-002E-DB13-0777-6CCDC3AF1A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2FD4A-B01C-60AE-281E-ADAD45857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7: Interaction (Sort Button)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7552D7-D2B0-42EB-C5EC-D05E793CC776}"/>
              </a:ext>
            </a:extLst>
          </p:cNvPr>
          <p:cNvSpPr txBox="1"/>
          <p:nvPr/>
        </p:nvSpPr>
        <p:spPr>
          <a:xfrm>
            <a:off x="6878646" y="1800065"/>
            <a:ext cx="50174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Adds a button click event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Reorders the data when clicked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EECAFB0-BCA9-CA69-8EEE-C6F299CCF1F0}"/>
              </a:ext>
            </a:extLst>
          </p:cNvPr>
          <p:cNvSpPr txBox="1"/>
          <p:nvPr/>
        </p:nvSpPr>
        <p:spPr>
          <a:xfrm>
            <a:off x="6878646" y="4317838"/>
            <a:ext cx="45010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When the button is clicked, the data is sorted and the chart updates.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DB8B777-1E1B-29DE-62CD-E7D70E87B0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00065"/>
            <a:ext cx="4750044" cy="1701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86012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CF503F-A0BB-2398-3001-AF75A75CF5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57452-35DF-8AE3-549B-FA8E9ACCB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8: Toggle State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934063-A5DF-E86A-BB22-C1E64ADCE07F}"/>
              </a:ext>
            </a:extLst>
          </p:cNvPr>
          <p:cNvSpPr txBox="1"/>
          <p:nvPr/>
        </p:nvSpPr>
        <p:spPr>
          <a:xfrm>
            <a:off x="6878646" y="1800065"/>
            <a:ext cx="58238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Keeps track of current state (sorted or original)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Switches between the two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FA0D1A-4C80-D818-3C49-C4D23DD038A1}"/>
              </a:ext>
            </a:extLst>
          </p:cNvPr>
          <p:cNvSpPr txBox="1"/>
          <p:nvPr/>
        </p:nvSpPr>
        <p:spPr>
          <a:xfrm>
            <a:off x="6878646" y="4317838"/>
            <a:ext cx="45010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This lets the button switch back and forth instead of only sorting once.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3257F2-238F-97DA-135C-0096E8E0C1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00065"/>
            <a:ext cx="4483330" cy="3283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02042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D2EE9A-FA96-544A-9DC5-1BE732259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E33D5-B12E-B347-F8DF-1AADCD3C3B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9: Animation (Final)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399002-FA0F-576C-28FF-5B8B15CBCBAD}"/>
              </a:ext>
            </a:extLst>
          </p:cNvPr>
          <p:cNvSpPr txBox="1"/>
          <p:nvPr/>
        </p:nvSpPr>
        <p:spPr>
          <a:xfrm>
            <a:off x="6878646" y="1800065"/>
            <a:ext cx="50174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Smoothly moves bars when data changes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Makes changes easier to see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DA7D5B-337D-FF70-109C-742E01C764E4}"/>
              </a:ext>
            </a:extLst>
          </p:cNvPr>
          <p:cNvSpPr txBox="1"/>
          <p:nvPr/>
        </p:nvSpPr>
        <p:spPr>
          <a:xfrm>
            <a:off x="6878646" y="4317838"/>
            <a:ext cx="45010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Animation helps you see how the data changes instead of jumping instantly.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1421615-C78F-449D-A4F7-92B5E4B528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00065"/>
            <a:ext cx="3397425" cy="2381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14270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339</Words>
  <Application>Microsoft Office PowerPoint</Application>
  <PresentationFormat>Widescreen</PresentationFormat>
  <Paragraphs>44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Bar Graph Sorting with Animation Microtutorial</vt:lpstr>
      <vt:lpstr>Step 1: Create SVG</vt:lpstr>
      <vt:lpstr>Step 2: Load CSV Data</vt:lpstr>
      <vt:lpstr>Step 3: Scales</vt:lpstr>
      <vt:lpstr>Step 4: Margins + Axes</vt:lpstr>
      <vt:lpstr>Step 5: Bars</vt:lpstr>
      <vt:lpstr>Step 6: Labels</vt:lpstr>
      <vt:lpstr>Step 7: Interaction (Sort Button)</vt:lpstr>
      <vt:lpstr>Step 8: Toggle State</vt:lpstr>
      <vt:lpstr>Step 9: Animation (Final)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Ben Garland</dc:creator>
  <cp:lastModifiedBy>Ben Garland</cp:lastModifiedBy>
  <cp:revision>44</cp:revision>
  <dcterms:created xsi:type="dcterms:W3CDTF">2026-03-22T23:37:53Z</dcterms:created>
  <dcterms:modified xsi:type="dcterms:W3CDTF">2026-03-23T00:13:46Z</dcterms:modified>
</cp:coreProperties>
</file>